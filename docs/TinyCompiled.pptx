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4"/>
  </p:sldMasterIdLst>
  <p:notesMasterIdLst>
    <p:notesMasterId r:id="rId19"/>
  </p:notesMasterIdLst>
  <p:sldIdLst>
    <p:sldId id="256" r:id="rId5"/>
    <p:sldId id="259" r:id="rId6"/>
    <p:sldId id="269" r:id="rId7"/>
    <p:sldId id="270" r:id="rId8"/>
    <p:sldId id="262" r:id="rId9"/>
    <p:sldId id="263" r:id="rId10"/>
    <p:sldId id="271" r:id="rId11"/>
    <p:sldId id="265" r:id="rId12"/>
    <p:sldId id="275" r:id="rId13"/>
    <p:sldId id="261" r:id="rId14"/>
    <p:sldId id="268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FFDEA-672C-4ECF-B720-EEAEFC3DB880}" v="4" dt="2025-11-04T15:43:44.524"/>
    <p1510:client id="{CF3E44DD-2A7C-4ED5-9198-DA1C24EFE530}" v="46" dt="2025-11-04T15:45:26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>
        <p:scale>
          <a:sx n="100" d="100"/>
          <a:sy n="100" d="100"/>
        </p:scale>
        <p:origin x="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4A80E-1112-4CF4-BAB0-AAD37582A2C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11A35-1816-4B70-8009-58B38DF38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6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1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0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6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3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3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4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8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7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0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1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2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03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sm.us/docs.html" TargetMode="External"/><Relationship Id="rId2" Type="http://schemas.openxmlformats.org/officeDocument/2006/relationships/hyperlink" Target="https://github.com/LilConsul/tinycompiled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extual.textualize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495E7-844B-9C12-8A53-B21AEB634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9"/>
            <a:ext cx="5227171" cy="84274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TinyCompiled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0B1E1-2755-57A8-C7F0-CF605289D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099193"/>
            <a:ext cx="4857857" cy="1005657"/>
          </a:xfrm>
        </p:spPr>
        <p:txBody>
          <a:bodyPr>
            <a:normAutofit fontScale="92500"/>
          </a:bodyPr>
          <a:lstStyle/>
          <a:p>
            <a:r>
              <a:rPr lang="en-US" dirty="0"/>
              <a:t>A Small Educational Compiler and Visualizer for Assembly Language Learning</a:t>
            </a:r>
            <a:endParaRPr lang="en-US" dirty="0">
              <a:effectLst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408BBA-6AA6-A2E6-C9AB-FA18C2E8335F}"/>
              </a:ext>
            </a:extLst>
          </p:cNvPr>
          <p:cNvSpPr txBox="1"/>
          <p:nvPr/>
        </p:nvSpPr>
        <p:spPr>
          <a:xfrm>
            <a:off x="695325" y="5587485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Authors:</a:t>
            </a:r>
            <a:r>
              <a:rPr lang="en-US" dirty="0"/>
              <a:t> Denys Shevchenko, Yehor Karabanov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F84820-59E0-0165-38AB-6A8EB8696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863" y="1714501"/>
            <a:ext cx="5570845" cy="29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0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3890-ECA9-87D8-A9D7-1E6CD084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&amp;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DFCB-1965-11CE-89CD-C005CAD06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Challenge: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C398D-95D8-1297-A2F3-671B57ED74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Assembly language is intimidating for beginners</a:t>
            </a:r>
          </a:p>
          <a:p>
            <a:r>
              <a:rPr lang="en-US" dirty="0"/>
              <a:t>Gap between high-level logic and machine code is hard to visualize</a:t>
            </a:r>
          </a:p>
          <a:p>
            <a:r>
              <a:rPr lang="en-US" dirty="0"/>
              <a:t>Lack of interactive learning 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C474B-3EE2-E445-8D04-24E8C6706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TinyCompiled</a:t>
            </a:r>
            <a:r>
              <a:rPr lang="en-US" sz="3200" dirty="0"/>
              <a:t> Solution: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6DDBB-1D0D-0E4A-BB37-5F8B22B89D6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Custom assembly-like language (.</a:t>
            </a:r>
            <a:r>
              <a:rPr lang="en-US" dirty="0" err="1"/>
              <a:t>tc</a:t>
            </a:r>
            <a:r>
              <a:rPr lang="en-US" dirty="0"/>
              <a:t>) → Real x86-64 NASM</a:t>
            </a:r>
          </a:p>
          <a:p>
            <a:r>
              <a:rPr lang="en-US" dirty="0"/>
              <a:t>Side-by-side visualization of code translation</a:t>
            </a:r>
          </a:p>
          <a:p>
            <a:r>
              <a:rPr lang="en-US" dirty="0"/>
              <a:t>Interactive GUI with real-time feedback</a:t>
            </a:r>
          </a:p>
          <a:p>
            <a:r>
              <a:rPr lang="en-US" dirty="0"/>
              <a:t>Makes low-level programming accessible and engaging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8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0E02-059D-CB19-B8B9-358956A95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A9963-8E74-89F7-F664-FD1870DF9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TinyCompiled</a:t>
            </a:r>
            <a:r>
              <a:rPr lang="en-US" dirty="0"/>
              <a:t> takes .</a:t>
            </a:r>
            <a:r>
              <a:rPr lang="en-US" dirty="0" err="1"/>
              <a:t>tc</a:t>
            </a:r>
            <a:r>
              <a:rPr lang="en-US" dirty="0"/>
              <a:t> files (simplified assembly-like language) and translates them into x86-64 NASM assembly.</a:t>
            </a:r>
          </a:p>
          <a:p>
            <a:r>
              <a:rPr lang="en-US" dirty="0"/>
              <a:t>Focus: Demonstrates how high-level instructions map to low-level operations.</a:t>
            </a:r>
          </a:p>
          <a:p>
            <a:r>
              <a:rPr lang="en-US" dirty="0"/>
              <a:t>Target Audience: Students, educators, hobbyists.</a:t>
            </a:r>
          </a:p>
          <a:p>
            <a:r>
              <a:rPr lang="en-US" dirty="0"/>
              <a:t>Bridges abstract concepts with machine instructions via compilation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66826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3E0FB-C2C1-3D3F-0489-C1017626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5ED9-AF7E-924A-90BE-13856FE7E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Syntax: Human-readable assembly-like language</a:t>
            </a:r>
          </a:p>
          <a:p>
            <a:r>
              <a:rPr lang="en-US" dirty="0"/>
              <a:t>Real Assembly Output: Generates actual x86-64 NASM code</a:t>
            </a:r>
          </a:p>
          <a:p>
            <a:r>
              <a:rPr lang="en-US" dirty="0"/>
              <a:t>8 Virtual Registers: R1-R8 mapped to x86-64 registers</a:t>
            </a:r>
          </a:p>
          <a:p>
            <a:r>
              <a:rPr lang="en-US" dirty="0"/>
              <a:t>Complete Language: Variables, functions, loops, I/O</a:t>
            </a:r>
          </a:p>
          <a:p>
            <a:r>
              <a:rPr lang="en-US" dirty="0"/>
              <a:t>Multiple Modes: CLI compilation, GUI editor, build &amp; run</a:t>
            </a:r>
          </a:p>
          <a:p>
            <a:r>
              <a:rPr lang="en-US" dirty="0"/>
              <a:t>Side-by-Side Visualization: Diff-style table for .</a:t>
            </a:r>
            <a:r>
              <a:rPr lang="en-US" dirty="0" err="1"/>
              <a:t>tc</a:t>
            </a:r>
            <a:r>
              <a:rPr lang="en-US" dirty="0"/>
              <a:t> </a:t>
            </a:r>
            <a:r>
              <a:rPr lang="en-US" dirty="0" err="1"/>
              <a:t>vs.NASM</a:t>
            </a:r>
            <a:endParaRPr lang="en-US" dirty="0"/>
          </a:p>
          <a:p>
            <a:r>
              <a:rPr lang="en-US" dirty="0"/>
              <a:t>Real-Time GUI: Editor, compilation preview, save/load</a:t>
            </a:r>
          </a:p>
        </p:txBody>
      </p:sp>
    </p:spTree>
    <p:extLst>
      <p:ext uri="{BB962C8B-B14F-4D97-AF65-F5344CB8AC3E}">
        <p14:creationId xmlns:p14="http://schemas.microsoft.com/office/powerpoint/2010/main" val="29674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CDF1-5252-6EF3-3D86-A25D9A51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 Pipeline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D80FA1-7A75-8AC2-E241-A42FC6670058}"/>
              </a:ext>
            </a:extLst>
          </p:cNvPr>
          <p:cNvSpPr/>
          <p:nvPr/>
        </p:nvSpPr>
        <p:spPr>
          <a:xfrm>
            <a:off x="793791" y="2064067"/>
            <a:ext cx="77025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latin typeface="Calisto MT (Body)"/>
                <a:ea typeface="Funnel Sans" pitchFamily="34" charset="-122"/>
                <a:cs typeface="Funnel Sans" pitchFamily="34" charset="-120"/>
              </a:rPr>
              <a:t>TinyCompiled</a:t>
            </a:r>
            <a:r>
              <a:rPr lang="en-US" sz="1750" dirty="0">
                <a:latin typeface="Calisto MT (Body)"/>
                <a:ea typeface="Funnel Sans" pitchFamily="34" charset="-122"/>
                <a:cs typeface="Funnel Sans" pitchFamily="34" charset="-120"/>
              </a:rPr>
              <a:t> follows a traditional compiler architecture:</a:t>
            </a:r>
            <a:endParaRPr lang="en-US" sz="1750" dirty="0">
              <a:latin typeface="Calisto MT (Body)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378D180-16D0-906A-3A31-477CC39BA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24" y="2660211"/>
            <a:ext cx="3684024" cy="768787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FADC6C3-5442-7BEB-A730-9D57C28F5358}"/>
              </a:ext>
            </a:extLst>
          </p:cNvPr>
          <p:cNvSpPr/>
          <p:nvPr/>
        </p:nvSpPr>
        <p:spPr>
          <a:xfrm>
            <a:off x="793790" y="3701481"/>
            <a:ext cx="3534710" cy="38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Calisto MT (Body)"/>
                <a:ea typeface="Mona Sans Semi Bold" pitchFamily="34" charset="-122"/>
                <a:cs typeface="Mona Sans Semi Bold" pitchFamily="34" charset="-120"/>
              </a:rPr>
              <a:t>Lexical Analysis (</a:t>
            </a:r>
            <a:r>
              <a:rPr lang="en-US" sz="2000" dirty="0">
                <a:highlight>
                  <a:srgbClr val="F2F2F2"/>
                </a:highlight>
                <a:latin typeface="Calisto MT (Body)"/>
                <a:ea typeface="Consolas" pitchFamily="34" charset="-122"/>
                <a:cs typeface="Consolas" pitchFamily="34" charset="-120"/>
              </a:rPr>
              <a:t>src/lexer/</a:t>
            </a:r>
            <a:r>
              <a:rPr lang="en-US" sz="2000" dirty="0">
                <a:latin typeface="Calisto MT (Body)"/>
                <a:ea typeface="Mona Sans Semi Bold" pitchFamily="34" charset="-122"/>
                <a:cs typeface="Mona Sans Semi Bold" pitchFamily="34" charset="-120"/>
              </a:rPr>
              <a:t>)</a:t>
            </a:r>
            <a:endParaRPr lang="en-US" sz="2000" dirty="0">
              <a:latin typeface="Calisto MT (Body)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A2B85A2-DDBD-D21D-38C6-EDE909B70DC7}"/>
              </a:ext>
            </a:extLst>
          </p:cNvPr>
          <p:cNvSpPr/>
          <p:nvPr/>
        </p:nvSpPr>
        <p:spPr>
          <a:xfrm>
            <a:off x="793791" y="4027615"/>
            <a:ext cx="35347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latin typeface="Calisto MT (Body)"/>
                <a:ea typeface="Funnel Sans" pitchFamily="34" charset="-122"/>
                <a:cs typeface="Funnel Sans" pitchFamily="34" charset="-120"/>
              </a:rPr>
              <a:t>Tokenizes source code into keywords, identifiers, numbers, and operators.</a:t>
            </a:r>
            <a:endParaRPr lang="en-US" sz="1600" dirty="0">
              <a:latin typeface="Calisto MT (Body)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3E8292C5-783B-4A0F-5195-ED81D95B1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255" y="2656978"/>
            <a:ext cx="3684024" cy="768787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F67F2A06-FA4D-263D-D909-32F4C5DC15CD}"/>
              </a:ext>
            </a:extLst>
          </p:cNvPr>
          <p:cNvSpPr/>
          <p:nvPr/>
        </p:nvSpPr>
        <p:spPr>
          <a:xfrm>
            <a:off x="4328502" y="3651378"/>
            <a:ext cx="3684025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Calisto MT (Body)"/>
                <a:ea typeface="Mona Sans Semi Bold" pitchFamily="34" charset="-122"/>
                <a:cs typeface="Mona Sans Semi Bold" pitchFamily="34" charset="-120"/>
              </a:rPr>
              <a:t>Syntax Analysis (</a:t>
            </a:r>
            <a:r>
              <a:rPr lang="en-US" sz="2000" dirty="0">
                <a:highlight>
                  <a:srgbClr val="F2F2F2"/>
                </a:highlight>
                <a:latin typeface="Calisto MT (Body)"/>
                <a:ea typeface="Consolas" pitchFamily="34" charset="-122"/>
                <a:cs typeface="Consolas" pitchFamily="34" charset="-120"/>
              </a:rPr>
              <a:t>src/parser/</a:t>
            </a:r>
            <a:r>
              <a:rPr lang="en-US" sz="2000" dirty="0">
                <a:latin typeface="Calisto MT (Body)"/>
                <a:ea typeface="Mona Sans Semi Bold" pitchFamily="34" charset="-122"/>
                <a:cs typeface="Mona Sans Semi Bold" pitchFamily="34" charset="-120"/>
              </a:rPr>
              <a:t>)</a:t>
            </a:r>
            <a:endParaRPr lang="en-US" sz="2000" dirty="0">
              <a:latin typeface="Calisto MT (Body)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C4D59EB-B806-6419-410B-788DBC762C63}"/>
              </a:ext>
            </a:extLst>
          </p:cNvPr>
          <p:cNvSpPr/>
          <p:nvPr/>
        </p:nvSpPr>
        <p:spPr>
          <a:xfrm>
            <a:off x="4328501" y="4086291"/>
            <a:ext cx="35695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latin typeface="Calisto MT (Body)"/>
                <a:ea typeface="Funnel Sans" pitchFamily="34" charset="-122"/>
                <a:cs typeface="Funnel Sans" pitchFamily="34" charset="-120"/>
              </a:rPr>
              <a:t>Parses tokens into an Abstract Syntax Tree (AST).</a:t>
            </a:r>
            <a:endParaRPr lang="en-US" sz="1600" dirty="0">
              <a:latin typeface="Calisto MT (Body)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58CB5256-8260-4F22-C082-E3FED8543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181" y="2656978"/>
            <a:ext cx="3684024" cy="768787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15470E9D-C283-06E9-B8AC-7A0874ECC5F3}"/>
              </a:ext>
            </a:extLst>
          </p:cNvPr>
          <p:cNvSpPr/>
          <p:nvPr/>
        </p:nvSpPr>
        <p:spPr>
          <a:xfrm>
            <a:off x="7909081" y="3578835"/>
            <a:ext cx="3684024" cy="45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Calisto MT (Body)"/>
                <a:ea typeface="Mona Sans Semi Bold" pitchFamily="34" charset="-122"/>
                <a:cs typeface="Mona Sans Semi Bold" pitchFamily="34" charset="-120"/>
              </a:rPr>
              <a:t>Code Generation (</a:t>
            </a:r>
            <a:r>
              <a:rPr lang="en-US" sz="2000" dirty="0">
                <a:highlight>
                  <a:srgbClr val="F2F2F2"/>
                </a:highlight>
                <a:latin typeface="Calisto MT (Body)"/>
                <a:ea typeface="Consolas" pitchFamily="34" charset="-122"/>
                <a:cs typeface="Consolas" pitchFamily="34" charset="-120"/>
              </a:rPr>
              <a:t>src/generator/</a:t>
            </a:r>
            <a:r>
              <a:rPr lang="en-US" sz="2000" dirty="0">
                <a:latin typeface="Calisto MT (Body)"/>
                <a:ea typeface="Mona Sans Semi Bold" pitchFamily="34" charset="-122"/>
                <a:cs typeface="Mona Sans Semi Bold" pitchFamily="34" charset="-120"/>
              </a:rPr>
              <a:t>)</a:t>
            </a:r>
            <a:endParaRPr lang="en-US" sz="2000" dirty="0">
              <a:latin typeface="Calisto MT (Body)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39444C2-DC57-16D2-044E-3695983C0295}"/>
              </a:ext>
            </a:extLst>
          </p:cNvPr>
          <p:cNvSpPr/>
          <p:nvPr/>
        </p:nvSpPr>
        <p:spPr>
          <a:xfrm>
            <a:off x="7909081" y="4023146"/>
            <a:ext cx="36396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latin typeface="Calisto MT (Body)"/>
                <a:ea typeface="Funnel Sans" pitchFamily="34" charset="-122"/>
                <a:cs typeface="Funnel Sans" pitchFamily="34" charset="-120"/>
              </a:rPr>
              <a:t>Translates AST into NASM x86-64 assembly code.</a:t>
            </a:r>
            <a:endParaRPr lang="en-US" sz="1600" dirty="0">
              <a:latin typeface="Calisto MT (Body)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7F7540-36B6-A641-D527-B3B4301819C6}"/>
              </a:ext>
            </a:extLst>
          </p:cNvPr>
          <p:cNvGrpSpPr/>
          <p:nvPr/>
        </p:nvGrpSpPr>
        <p:grpSpPr>
          <a:xfrm>
            <a:off x="793790" y="4985786"/>
            <a:ext cx="3194292" cy="1066221"/>
            <a:chOff x="674727" y="4999220"/>
            <a:chExt cx="3916561" cy="1065848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87B7490C-76FC-8595-2F7D-C9FED7DF51C7}"/>
                </a:ext>
              </a:extLst>
            </p:cNvPr>
            <p:cNvSpPr/>
            <p:nvPr/>
          </p:nvSpPr>
          <p:spPr>
            <a:xfrm>
              <a:off x="674727" y="4999220"/>
              <a:ext cx="3916561" cy="1065848"/>
            </a:xfrm>
            <a:prstGeom prst="roundRect">
              <a:avLst>
                <a:gd name="adj" fmla="val 3192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C3193E1B-3D27-3B3D-EDDB-6BFA649A3773}"/>
                </a:ext>
              </a:extLst>
            </p:cNvPr>
            <p:cNvSpPr/>
            <p:nvPr/>
          </p:nvSpPr>
          <p:spPr>
            <a:xfrm>
              <a:off x="793790" y="5192999"/>
              <a:ext cx="346293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600" dirty="0">
                  <a:highlight>
                    <a:srgbClr val="F2F2F2"/>
                  </a:highlight>
                  <a:latin typeface="Calisto MT (Body)"/>
                  <a:ea typeface="Consolas" pitchFamily="34" charset="-122"/>
                  <a:cs typeface="Consolas" pitchFamily="34" charset="-120"/>
                </a:rPr>
                <a:t>Example: VAR x, 10 → [VAR] [x] [,] [10]</a:t>
              </a:r>
              <a:endParaRPr lang="en-US" sz="1600" dirty="0">
                <a:latin typeface="Calisto MT (Body)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E71760-CE9E-760D-DFCB-545E19A7D82E}"/>
              </a:ext>
            </a:extLst>
          </p:cNvPr>
          <p:cNvGrpSpPr/>
          <p:nvPr/>
        </p:nvGrpSpPr>
        <p:grpSpPr>
          <a:xfrm>
            <a:off x="4085188" y="4980677"/>
            <a:ext cx="3598674" cy="1065847"/>
            <a:chOff x="4925854" y="4870772"/>
            <a:chExt cx="3916561" cy="1428750"/>
          </a:xfrm>
        </p:grpSpPr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6C105081-0FE8-A7D2-770A-8FCDC06F80FA}"/>
                </a:ext>
              </a:extLst>
            </p:cNvPr>
            <p:cNvSpPr/>
            <p:nvPr/>
          </p:nvSpPr>
          <p:spPr>
            <a:xfrm>
              <a:off x="4925854" y="4870772"/>
              <a:ext cx="3916561" cy="1428750"/>
            </a:xfrm>
            <a:prstGeom prst="roundRect">
              <a:avLst>
                <a:gd name="adj" fmla="val 23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E9EB0546-0772-A5F0-DBB1-B9FD05B226B5}"/>
                </a:ext>
              </a:extLst>
            </p:cNvPr>
            <p:cNvSpPr/>
            <p:nvPr/>
          </p:nvSpPr>
          <p:spPr>
            <a:xfrm>
              <a:off x="5152668" y="5040793"/>
              <a:ext cx="3462933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600" dirty="0">
                  <a:highlight>
                    <a:srgbClr val="F2F2F2"/>
                  </a:highlight>
                  <a:latin typeface="Calisto MT (Body)"/>
                  <a:ea typeface="Consolas" pitchFamily="34" charset="-122"/>
                  <a:cs typeface="Consolas" pitchFamily="34" charset="-120"/>
                </a:rPr>
                <a:t>Example: Creates AST nodes representing variable declaration</a:t>
              </a:r>
              <a:endParaRPr lang="en-US" sz="1600" dirty="0">
                <a:latin typeface="Calisto MT (Body)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A7AD86-A1CF-5711-15B6-4E2AC937DD03}"/>
              </a:ext>
            </a:extLst>
          </p:cNvPr>
          <p:cNvGrpSpPr/>
          <p:nvPr/>
        </p:nvGrpSpPr>
        <p:grpSpPr>
          <a:xfrm>
            <a:off x="7767282" y="4987981"/>
            <a:ext cx="3825823" cy="1065848"/>
            <a:chOff x="9704427" y="5672376"/>
            <a:chExt cx="3916561" cy="1065848"/>
          </a:xfrm>
        </p:grpSpPr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3F5B8537-D83A-FC1F-9C3E-76DFB36F0436}"/>
                </a:ext>
              </a:extLst>
            </p:cNvPr>
            <p:cNvSpPr/>
            <p:nvPr/>
          </p:nvSpPr>
          <p:spPr>
            <a:xfrm>
              <a:off x="9704427" y="5672376"/>
              <a:ext cx="3916561" cy="1065848"/>
            </a:xfrm>
            <a:prstGeom prst="roundRect">
              <a:avLst>
                <a:gd name="adj" fmla="val 3192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63712FD3-F803-B4E0-0BD3-F23440279D61}"/>
                </a:ext>
              </a:extLst>
            </p:cNvPr>
            <p:cNvSpPr/>
            <p:nvPr/>
          </p:nvSpPr>
          <p:spPr>
            <a:xfrm>
              <a:off x="9931241" y="5842397"/>
              <a:ext cx="346293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600" dirty="0">
                  <a:highlight>
                    <a:srgbClr val="F2F2F2"/>
                  </a:highlight>
                  <a:latin typeface="Calisto MT (Body)"/>
                  <a:ea typeface="Consolas" pitchFamily="34" charset="-122"/>
                  <a:cs typeface="Consolas" pitchFamily="34" charset="-120"/>
                </a:rPr>
                <a:t>Example</a:t>
              </a:r>
              <a:r>
                <a:rPr lang="en-US" sz="1750" dirty="0">
                  <a:highlight>
                    <a:srgbClr val="F2F2F2"/>
                  </a:highlight>
                  <a:latin typeface="Calisto MT (Body)"/>
                  <a:ea typeface="Consolas" pitchFamily="34" charset="-122"/>
                  <a:cs typeface="Consolas" pitchFamily="34" charset="-120"/>
                </a:rPr>
                <a:t>: VAR x, 10 → mov rax, 10</a:t>
              </a:r>
              <a:endParaRPr lang="en-US" sz="1750" dirty="0">
                <a:latin typeface="Calisto MT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90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CE7C-534B-676D-6AAD-916C050C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registers and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6A807-A26C-FEC7-7754-F15A86FA9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Register mapping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08785-B8A6-9C36-2286-B953B9A476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alisto MT (Body)"/>
                <a:ea typeface="Funnel Sans" pitchFamily="34" charset="-122"/>
                <a:cs typeface="Funnel Sans" pitchFamily="34" charset="-120"/>
              </a:rPr>
              <a:t>TinyCompiled</a:t>
            </a:r>
            <a:r>
              <a:rPr lang="en-US" dirty="0">
                <a:latin typeface="Calisto MT (Body)"/>
                <a:ea typeface="Funnel Sans" pitchFamily="34" charset="-122"/>
                <a:cs typeface="Funnel Sans" pitchFamily="34" charset="-120"/>
              </a:rPr>
              <a:t> provides 8 virtual registers that map directly to x86-64 registers, making the transition from learning to real assembly seamless:</a:t>
            </a:r>
            <a:endParaRPr lang="en-US" dirty="0">
              <a:latin typeface="Calisto MT (Body)"/>
            </a:endParaRPr>
          </a:p>
          <a:p>
            <a:r>
              <a:rPr lang="en-US" dirty="0">
                <a:latin typeface="Calisto MT (Body)"/>
              </a:rPr>
              <a:t>R1</a:t>
            </a:r>
            <a:r>
              <a:rPr lang="en-US" dirty="0"/>
              <a:t> → </a:t>
            </a:r>
            <a:r>
              <a:rPr lang="en-US" dirty="0" err="1">
                <a:latin typeface="Calisto MT (Body)"/>
              </a:rPr>
              <a:t>rax</a:t>
            </a:r>
            <a:r>
              <a:rPr lang="en-US" dirty="0">
                <a:latin typeface="Calisto MT (Body)"/>
              </a:rPr>
              <a:t> (accumulator register)</a:t>
            </a:r>
          </a:p>
          <a:p>
            <a:r>
              <a:rPr lang="en-US" dirty="0">
                <a:latin typeface="Calisto MT (Body)"/>
              </a:rPr>
              <a:t>R2</a:t>
            </a:r>
            <a:r>
              <a:rPr lang="en-US" dirty="0"/>
              <a:t> → </a:t>
            </a:r>
            <a:r>
              <a:rPr lang="en-US" dirty="0" err="1">
                <a:latin typeface="Calisto MT (Body)"/>
              </a:rPr>
              <a:t>rbx</a:t>
            </a:r>
            <a:r>
              <a:rPr lang="en-US" dirty="0">
                <a:latin typeface="Calisto MT (Body)"/>
              </a:rPr>
              <a:t> (base register)</a:t>
            </a:r>
          </a:p>
          <a:p>
            <a:r>
              <a:rPr lang="en-US" dirty="0">
                <a:latin typeface="Calisto MT (Body)"/>
              </a:rPr>
              <a:t>R3</a:t>
            </a:r>
            <a:r>
              <a:rPr lang="en-US" dirty="0"/>
              <a:t> → </a:t>
            </a:r>
            <a:r>
              <a:rPr lang="en-US" dirty="0" err="1">
                <a:latin typeface="Calisto MT (Body)"/>
              </a:rPr>
              <a:t>rcx</a:t>
            </a:r>
            <a:r>
              <a:rPr lang="en-US" dirty="0">
                <a:latin typeface="Calisto MT (Body)"/>
              </a:rPr>
              <a:t> (counter register)</a:t>
            </a:r>
          </a:p>
          <a:p>
            <a:r>
              <a:rPr lang="en-US" dirty="0">
                <a:latin typeface="Calisto MT (Body)"/>
              </a:rPr>
              <a:t>R4</a:t>
            </a:r>
            <a:r>
              <a:rPr lang="en-US" dirty="0"/>
              <a:t> → </a:t>
            </a:r>
            <a:r>
              <a:rPr lang="en-US" dirty="0" err="1">
                <a:latin typeface="Calisto MT (Body)"/>
              </a:rPr>
              <a:t>rdx</a:t>
            </a:r>
            <a:r>
              <a:rPr lang="en-US" dirty="0">
                <a:latin typeface="Calisto MT (Body)"/>
              </a:rPr>
              <a:t> (data register)</a:t>
            </a:r>
          </a:p>
          <a:p>
            <a:r>
              <a:rPr lang="en-US" dirty="0">
                <a:latin typeface="Calisto MT (Body)"/>
              </a:rPr>
              <a:t>R5</a:t>
            </a:r>
            <a:r>
              <a:rPr lang="en-US" dirty="0"/>
              <a:t> → </a:t>
            </a:r>
            <a:r>
              <a:rPr lang="en-US" dirty="0" err="1">
                <a:latin typeface="Calisto MT (Body)"/>
              </a:rPr>
              <a:t>rsi</a:t>
            </a:r>
            <a:r>
              <a:rPr lang="en-US" dirty="0">
                <a:latin typeface="Calisto MT (Body)"/>
              </a:rPr>
              <a:t> (source index)</a:t>
            </a:r>
          </a:p>
          <a:p>
            <a:r>
              <a:rPr lang="en-US" dirty="0">
                <a:latin typeface="Calisto MT (Body)"/>
              </a:rPr>
              <a:t>R6</a:t>
            </a:r>
            <a:r>
              <a:rPr lang="en-US" dirty="0"/>
              <a:t>→ </a:t>
            </a:r>
            <a:r>
              <a:rPr lang="en-US" dirty="0" err="1">
                <a:latin typeface="Calisto MT (Body)"/>
              </a:rPr>
              <a:t>rdi</a:t>
            </a:r>
            <a:r>
              <a:rPr lang="en-US" dirty="0">
                <a:latin typeface="Calisto MT (Body)"/>
              </a:rPr>
              <a:t> (destination index)</a:t>
            </a:r>
          </a:p>
          <a:p>
            <a:r>
              <a:rPr lang="en-US" dirty="0">
                <a:latin typeface="Calisto MT (Body)"/>
              </a:rPr>
              <a:t>R7</a:t>
            </a:r>
            <a:r>
              <a:rPr lang="en-US" dirty="0"/>
              <a:t> → </a:t>
            </a:r>
            <a:r>
              <a:rPr lang="en-US" dirty="0">
                <a:latin typeface="Calisto MT (Body)"/>
              </a:rPr>
              <a:t>r8 (general purpose)</a:t>
            </a:r>
          </a:p>
          <a:p>
            <a:r>
              <a:rPr lang="en-US" dirty="0">
                <a:latin typeface="Calisto MT (Body)"/>
              </a:rPr>
              <a:t>R8</a:t>
            </a:r>
            <a:r>
              <a:rPr lang="en-US" dirty="0"/>
              <a:t> → </a:t>
            </a:r>
            <a:r>
              <a:rPr lang="en-US" dirty="0">
                <a:latin typeface="Calisto MT (Body)"/>
              </a:rPr>
              <a:t>r9 (general purpose)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89B41-E370-7698-D1EB-960A05A7C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Memory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FB6B1A-582B-8661-CF96-7C2D9870F857}"/>
              </a:ext>
            </a:extLst>
          </p:cNvPr>
          <p:cNvGrpSpPr/>
          <p:nvPr/>
        </p:nvGrpSpPr>
        <p:grpSpPr>
          <a:xfrm>
            <a:off x="6181344" y="2589006"/>
            <a:ext cx="4885015" cy="1458635"/>
            <a:chOff x="6256536" y="2442702"/>
            <a:chExt cx="4885015" cy="1458635"/>
          </a:xfrm>
        </p:grpSpPr>
        <p:sp>
          <p:nvSpPr>
            <p:cNvPr id="8" name="Shape 12">
              <a:extLst>
                <a:ext uri="{FF2B5EF4-FFF2-40B4-BE49-F238E27FC236}">
                  <a16:creationId xmlns:a16="http://schemas.microsoft.com/office/drawing/2014/main" id="{CB8FAB0F-B14F-8909-E280-40F4DA7FD57E}"/>
                </a:ext>
              </a:extLst>
            </p:cNvPr>
            <p:cNvSpPr/>
            <p:nvPr/>
          </p:nvSpPr>
          <p:spPr>
            <a:xfrm>
              <a:off x="6256536" y="2442702"/>
              <a:ext cx="4885015" cy="1458635"/>
            </a:xfrm>
            <a:prstGeom prst="roundRect">
              <a:avLst>
                <a:gd name="adj" fmla="val 6531"/>
              </a:avLst>
            </a:prstGeom>
            <a:solidFill>
              <a:srgbClr val="FFFFFF">
                <a:alpha val="95000"/>
              </a:srgbClr>
            </a:solidFill>
            <a:ln w="30480">
              <a:solidFill>
                <a:srgbClr val="C8CAC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Calisto MT (Body)"/>
              </a:endParaRPr>
            </a:p>
          </p:txBody>
        </p:sp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0D775F51-7C28-EC7B-FEB4-7BFE27FC4F41}"/>
                </a:ext>
              </a:extLst>
            </p:cNvPr>
            <p:cNvSpPr/>
            <p:nvPr/>
          </p:nvSpPr>
          <p:spPr>
            <a:xfrm>
              <a:off x="6513830" y="269999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latin typeface="Calisto MT (Body)"/>
                  <a:ea typeface="Mona Sans Semi Bold" pitchFamily="34" charset="-122"/>
                  <a:cs typeface="Mona Sans Semi Bold" pitchFamily="34" charset="-120"/>
                </a:rPr>
                <a:t>Variables</a:t>
              </a:r>
              <a:endParaRPr lang="en-US" sz="2200" dirty="0">
                <a:latin typeface="Calisto MT (Body)"/>
              </a:endParaRPr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02C44696-AF65-1120-37D4-A64A8BA1B5CF}"/>
                </a:ext>
              </a:extLst>
            </p:cNvPr>
            <p:cNvSpPr/>
            <p:nvPr/>
          </p:nvSpPr>
          <p:spPr>
            <a:xfrm>
              <a:off x="6513830" y="3281140"/>
              <a:ext cx="437042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latin typeface="Calisto MT (Body)"/>
                  <a:ea typeface="Funnel Sans" pitchFamily="34" charset="-122"/>
                  <a:cs typeface="Funnel Sans" pitchFamily="34" charset="-120"/>
                </a:rPr>
                <a:t>Stored in .data section with labels</a:t>
              </a:r>
              <a:endParaRPr lang="en-US" sz="1750" dirty="0">
                <a:latin typeface="Calisto MT (Body)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EAED1D-7B99-1C93-535B-FD62F6F822BD}"/>
              </a:ext>
            </a:extLst>
          </p:cNvPr>
          <p:cNvGrpSpPr/>
          <p:nvPr/>
        </p:nvGrpSpPr>
        <p:grpSpPr>
          <a:xfrm>
            <a:off x="6181344" y="4274455"/>
            <a:ext cx="4885015" cy="1458635"/>
            <a:chOff x="6256536" y="4128151"/>
            <a:chExt cx="4885015" cy="1458635"/>
          </a:xfrm>
        </p:grpSpPr>
        <p:sp>
          <p:nvSpPr>
            <p:cNvPr id="11" name="Shape 15">
              <a:extLst>
                <a:ext uri="{FF2B5EF4-FFF2-40B4-BE49-F238E27FC236}">
                  <a16:creationId xmlns:a16="http://schemas.microsoft.com/office/drawing/2014/main" id="{86F3AC87-C3CA-8FFF-E7E1-B138032153AC}"/>
                </a:ext>
              </a:extLst>
            </p:cNvPr>
            <p:cNvSpPr/>
            <p:nvPr/>
          </p:nvSpPr>
          <p:spPr>
            <a:xfrm>
              <a:off x="6256536" y="4128151"/>
              <a:ext cx="4885015" cy="1458635"/>
            </a:xfrm>
            <a:prstGeom prst="roundRect">
              <a:avLst>
                <a:gd name="adj" fmla="val 6531"/>
              </a:avLst>
            </a:prstGeom>
            <a:solidFill>
              <a:srgbClr val="FFFFFF">
                <a:alpha val="95000"/>
              </a:srgbClr>
            </a:solidFill>
            <a:ln w="30480">
              <a:solidFill>
                <a:srgbClr val="C8CAC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Calisto MT (Body)"/>
              </a:endParaRPr>
            </a:p>
          </p:txBody>
        </p:sp>
        <p:sp>
          <p:nvSpPr>
            <p:cNvPr id="12" name="Text 16">
              <a:extLst>
                <a:ext uri="{FF2B5EF4-FFF2-40B4-BE49-F238E27FC236}">
                  <a16:creationId xmlns:a16="http://schemas.microsoft.com/office/drawing/2014/main" id="{209D00E0-6596-1FAA-630B-26221AE1DA55}"/>
                </a:ext>
              </a:extLst>
            </p:cNvPr>
            <p:cNvSpPr/>
            <p:nvPr/>
          </p:nvSpPr>
          <p:spPr>
            <a:xfrm>
              <a:off x="6513830" y="438544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latin typeface="Calisto MT (Body)"/>
                  <a:ea typeface="Mona Sans Semi Bold" pitchFamily="34" charset="-122"/>
                  <a:cs typeface="Mona Sans Semi Bold" pitchFamily="34" charset="-120"/>
                </a:rPr>
                <a:t>Stack</a:t>
              </a:r>
              <a:endParaRPr lang="en-US" sz="2200" dirty="0">
                <a:latin typeface="Calisto MT (Body)"/>
              </a:endParaRPr>
            </a:p>
          </p:txBody>
        </p:sp>
        <p:sp>
          <p:nvSpPr>
            <p:cNvPr id="13" name="Text 17">
              <a:extLst>
                <a:ext uri="{FF2B5EF4-FFF2-40B4-BE49-F238E27FC236}">
                  <a16:creationId xmlns:a16="http://schemas.microsoft.com/office/drawing/2014/main" id="{38AE433C-A57C-027D-5819-70E059C3DC51}"/>
                </a:ext>
              </a:extLst>
            </p:cNvPr>
            <p:cNvSpPr/>
            <p:nvPr/>
          </p:nvSpPr>
          <p:spPr>
            <a:xfrm>
              <a:off x="6513830" y="4966589"/>
              <a:ext cx="437042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600" dirty="0">
                  <a:latin typeface="Calisto MT (Body)"/>
                  <a:ea typeface="Funnel Sans" pitchFamily="34" charset="-122"/>
                  <a:cs typeface="Funnel Sans" pitchFamily="34" charset="-120"/>
                </a:rPr>
                <a:t>Used</a:t>
              </a:r>
              <a:r>
                <a:rPr lang="en-US" sz="1750" dirty="0">
                  <a:latin typeface="Calisto MT (Body)"/>
                  <a:ea typeface="Funnel Sans" pitchFamily="34" charset="-122"/>
                  <a:cs typeface="Funnel Sans" pitchFamily="34" charset="-120"/>
                </a:rPr>
                <a:t> for function calls and local variables</a:t>
              </a:r>
              <a:endParaRPr lang="en-US" sz="1750" dirty="0">
                <a:latin typeface="Calisto MT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381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B309-762E-FC6C-6B10-678EDF908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0B0E0-AEFB-50D9-B15D-F01B431CD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Arithmetic: ADD, SUB, MUL, DIV, INC, DEC</a:t>
            </a:r>
          </a:p>
          <a:p>
            <a:r>
              <a:rPr lang="en-US" dirty="0"/>
              <a:t>Bitwise Logic: AND, OR, XOR, NOT, SHL, SHR</a:t>
            </a:r>
          </a:p>
          <a:p>
            <a:r>
              <a:rPr lang="en-US" dirty="0"/>
              <a:t>Data Movement: LOAD, SET, MOVE, PUSH, POP</a:t>
            </a:r>
          </a:p>
          <a:p>
            <a:r>
              <a:rPr lang="en-US" dirty="0"/>
              <a:t>Control Flow: IF/ELSE, WHILE, FOR, LOOP, REPEAT/UNTIL</a:t>
            </a:r>
          </a:p>
          <a:p>
            <a:r>
              <a:rPr lang="en-US" dirty="0"/>
              <a:t>Functions: FUNC, CALL, RET</a:t>
            </a:r>
          </a:p>
          <a:p>
            <a:r>
              <a:rPr lang="en-US" dirty="0"/>
              <a:t>Input/Output: PRINT, INPUT</a:t>
            </a:r>
          </a:p>
          <a:p>
            <a:r>
              <a:rPr lang="en-US" dirty="0"/>
              <a:t>Other: HALT, NOP, comments (; )</a:t>
            </a:r>
          </a:p>
        </p:txBody>
      </p:sp>
    </p:spTree>
    <p:extLst>
      <p:ext uri="{BB962C8B-B14F-4D97-AF65-F5344CB8AC3E}">
        <p14:creationId xmlns:p14="http://schemas.microsoft.com/office/powerpoint/2010/main" val="2595126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1420-3A9F-D1EB-825E-CFAA83FE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Sum </a:t>
            </a:r>
            <a:r>
              <a:rPr lang="en-US" dirty="0" err="1"/>
              <a:t>calcualtor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E5991-5970-9800-073F-AF558E4B31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What This Demonstrates:</a:t>
            </a:r>
          </a:p>
          <a:p>
            <a:r>
              <a:rPr lang="en-US" sz="1600" dirty="0"/>
              <a:t>Variable declaration with initialization.</a:t>
            </a:r>
          </a:p>
          <a:p>
            <a:r>
              <a:rPr lang="en-US" sz="1600" dirty="0"/>
              <a:t>WHILE loop with condition checking</a:t>
            </a:r>
          </a:p>
          <a:p>
            <a:r>
              <a:rPr lang="en-US" sz="1600" dirty="0"/>
              <a:t>Register operations (LOAD, ADD, SET)</a:t>
            </a:r>
          </a:p>
          <a:p>
            <a:r>
              <a:rPr lang="en-US" sz="1600" dirty="0"/>
              <a:t>Variable increment (INC)</a:t>
            </a:r>
          </a:p>
          <a:p>
            <a:r>
              <a:rPr lang="en-US" sz="1600" dirty="0"/>
              <a:t>Output operation (PRINT)</a:t>
            </a:r>
          </a:p>
          <a:p>
            <a:r>
              <a:rPr lang="en-US" sz="1600" dirty="0"/>
              <a:t>Program termination (HALT)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Run it: </a:t>
            </a:r>
            <a:r>
              <a:rPr lang="en-US" sz="1600" b="1" err="1"/>
              <a:t>uv</a:t>
            </a:r>
            <a:r>
              <a:rPr lang="en-US" sz="1600" b="1"/>
              <a:t> run cli.py run examples/sum.tc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F61E4EE-0A2C-9B90-DB35-979CF1A975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9014" y="2222500"/>
            <a:ext cx="4803435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73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95871-A749-8F23-3AE1-CBF35C2F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Other examples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E3B79-B8C4-91FF-33AC-41A918499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231136"/>
            <a:ext cx="6001512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fibonacci.tc</a:t>
            </a:r>
            <a:r>
              <a:rPr lang="en-US"/>
              <a:t> - Fibonacci sequence with functions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prime_check.tc</a:t>
            </a:r>
            <a:r>
              <a:rPr lang="en-US"/>
              <a:t> - Prime number checker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calculator.tc</a:t>
            </a:r>
            <a:r>
              <a:rPr lang="en-US"/>
              <a:t> - Interactive calculator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for_loop_demo.tc</a:t>
            </a:r>
            <a:r>
              <a:rPr lang="en-US"/>
              <a:t> - Loop variations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bitwise_demo.tc</a:t>
            </a:r>
            <a:r>
              <a:rPr lang="en-US"/>
              <a:t> - Bitwise operations (AND, OR, XOR, shifts)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E86865-8C1C-E53B-7BFD-797321C6A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8321" y="731520"/>
            <a:ext cx="2914535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0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FA22337-4CA0-428A-90ED-6242E231D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3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C58A5-3BE3-1783-CB30-6E53A5CC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865" y="921797"/>
            <a:ext cx="3455902" cy="38085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Error Handling &amp; Feedback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8836B1-49D9-CA21-0D54-3E1ADEF29E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4" b="4918"/>
          <a:stretch>
            <a:fillRect/>
          </a:stretch>
        </p:blipFill>
        <p:spPr>
          <a:xfrm>
            <a:off x="20" y="10"/>
            <a:ext cx="7315180" cy="3428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F9D138-2A50-4B26-B7AB-6D62CE1A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47238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30CB0E-6DF1-A25B-D6E9-49B29C1538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9" b="6202"/>
          <a:stretch>
            <a:fillRect/>
          </a:stretch>
        </p:blipFill>
        <p:spPr>
          <a:xfrm>
            <a:off x="20" y="3429000"/>
            <a:ext cx="7315180" cy="3429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1B6FDE-ACAE-0EB4-50F6-B42417DF20DC}"/>
              </a:ext>
            </a:extLst>
          </p:cNvPr>
          <p:cNvSpPr txBox="1"/>
          <p:nvPr/>
        </p:nvSpPr>
        <p:spPr>
          <a:xfrm>
            <a:off x="7905750" y="3751194"/>
            <a:ext cx="3695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real-time feedback in GUI and CLI.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Messages: Include line numbers, context, and suggestions.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Examples: Syntax errors, undefined variables.</a:t>
            </a:r>
          </a:p>
        </p:txBody>
      </p:sp>
    </p:spTree>
    <p:extLst>
      <p:ext uri="{BB962C8B-B14F-4D97-AF65-F5344CB8AC3E}">
        <p14:creationId xmlns:p14="http://schemas.microsoft.com/office/powerpoint/2010/main" val="231637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D4B4C-8ACD-B265-08AF-47A9F981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Project structure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33AF010-E590-872A-BC58-2E84C3EEF3A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44" r="1" b="95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25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C22D0-8F1F-BBCB-B368-A61FB286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 dirty="0"/>
              <a:t>Getting started &amp; installation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7B87774-8BDE-33CD-5588-B2A415C52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" r="4791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9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6E13-15D0-5A43-2291-7C9351F3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693CF-344B-4332-0D24-E1A265EE3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CLI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018A5FA-95FC-7B7F-7B12-5319005036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369" y="3421093"/>
            <a:ext cx="5209799" cy="204628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B1574-C067-E88D-5ABD-2B2D41883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GUI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D48557-DDAE-54DC-B2DD-A721DF6C2E3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660" y="3055841"/>
            <a:ext cx="5211763" cy="277679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D86C7A-3337-41C3-1B71-264883B3DDAD}"/>
              </a:ext>
            </a:extLst>
          </p:cNvPr>
          <p:cNvSpPr txBox="1"/>
          <p:nvPr/>
        </p:nvSpPr>
        <p:spPr>
          <a:xfrm>
            <a:off x="6181344" y="2486025"/>
            <a:ext cx="521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Ctrl+R to compile, Ctrl+S to save, Ctrl+Q to quit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7154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6401-9A81-48DE-B7FC-1436993D5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Documentation &amp;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0770F-BE41-2B2F-98C1-6479C3ACE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Documentation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40421-2CFF-A7AC-1DF5-795739632C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Documentation: </a:t>
            </a:r>
          </a:p>
          <a:p>
            <a:r>
              <a:rPr lang="en-US" sz="1800" dirty="0"/>
              <a:t>docs/DOCUMENTATION.md (language reference)</a:t>
            </a:r>
          </a:p>
          <a:p>
            <a:r>
              <a:rPr lang="en-US" sz="1800" dirty="0"/>
              <a:t>docs/DEFINITION.md (BNF grammar)</a:t>
            </a:r>
          </a:p>
          <a:p>
            <a:pPr marL="0" indent="0">
              <a:buNone/>
            </a:pPr>
            <a:r>
              <a:rPr lang="en-US" sz="1800" dirty="0"/>
              <a:t>More Examples: examples/ directory (fibonacci.tc, prime_check.tc, etc.)</a:t>
            </a:r>
          </a:p>
          <a:p>
            <a:pPr marL="0" indent="0">
              <a:buNone/>
            </a:pPr>
            <a:r>
              <a:rPr lang="en-US" sz="1800" dirty="0"/>
              <a:t>License: MIT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B46A9-F25D-CB35-167B-16509650E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A193A-A82E-28D7-44B5-11FE077A982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GitHub: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https://github.com/LilConsul/tinycompiled</a:t>
            </a:r>
            <a:endParaRPr lang="en-US" sz="1800" dirty="0"/>
          </a:p>
          <a:p>
            <a:r>
              <a:rPr lang="en-US" sz="1800" dirty="0"/>
              <a:t>NASM Docs: </a:t>
            </a:r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https://www.nasm.us/docs.html</a:t>
            </a:r>
            <a:endParaRPr lang="en-US" sz="1800" dirty="0"/>
          </a:p>
          <a:p>
            <a:r>
              <a:rPr lang="en-US" sz="1800" dirty="0"/>
              <a:t>Textual Framework:</a:t>
            </a:r>
          </a:p>
          <a:p>
            <a:pPr marL="0" indent="0">
              <a:buNone/>
            </a:pPr>
            <a:r>
              <a:rPr lang="en-US" sz="1800" dirty="0">
                <a:hlinkClick r:id="rId4"/>
              </a:rPr>
              <a:t>https://textual.textualize.io/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6033349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F01FDACA741214F9734A1B6D812A1F3" ma:contentTypeVersion="10" ma:contentTypeDescription="Utwórz nowy dokument." ma:contentTypeScope="" ma:versionID="1cbde44b688980dce3bdac89eb9daecb">
  <xsd:schema xmlns:xsd="http://www.w3.org/2001/XMLSchema" xmlns:xs="http://www.w3.org/2001/XMLSchema" xmlns:p="http://schemas.microsoft.com/office/2006/metadata/properties" xmlns:ns3="0b6bae61-cbc4-483d-b8e2-ea5293709ed7" targetNamespace="http://schemas.microsoft.com/office/2006/metadata/properties" ma:root="true" ma:fieldsID="aac870136780d43069585b6b75aa5b4f" ns3:_="">
    <xsd:import namespace="0b6bae61-cbc4-483d-b8e2-ea5293709e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6bae61-cbc4-483d-b8e2-ea5293709e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6bae61-cbc4-483d-b8e2-ea5293709ed7" xsi:nil="true"/>
  </documentManagement>
</p:properties>
</file>

<file path=customXml/itemProps1.xml><?xml version="1.0" encoding="utf-8"?>
<ds:datastoreItem xmlns:ds="http://schemas.openxmlformats.org/officeDocument/2006/customXml" ds:itemID="{EF521E06-10EE-4D28-868A-35ABC6C911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598266-C5B6-4BD0-9076-7592552144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6bae61-cbc4-483d-b8e2-ea5293709e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3A84B7-2935-43E2-8B12-D50D351EFB71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0b6bae61-cbc4-483d-b8e2-ea5293709ed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725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Calisto MT</vt:lpstr>
      <vt:lpstr>Calisto MT (Body)</vt:lpstr>
      <vt:lpstr>Univers Condensed</vt:lpstr>
      <vt:lpstr>ChronicleVTI</vt:lpstr>
      <vt:lpstr>TinyCompiled</vt:lpstr>
      <vt:lpstr>The Problem &amp; Solution</vt:lpstr>
      <vt:lpstr>Overview</vt:lpstr>
      <vt:lpstr>Key features</vt:lpstr>
      <vt:lpstr>Compilation Pipeline</vt:lpstr>
      <vt:lpstr>Virtual registers and memory</vt:lpstr>
      <vt:lpstr>Supported Operations</vt:lpstr>
      <vt:lpstr>Example: Sum calcualtor</vt:lpstr>
      <vt:lpstr>Other examples </vt:lpstr>
      <vt:lpstr>Error Handling &amp; Feedback</vt:lpstr>
      <vt:lpstr>Project structure</vt:lpstr>
      <vt:lpstr>Getting started &amp; installation</vt:lpstr>
      <vt:lpstr>Usage</vt:lpstr>
      <vt:lpstr>Documentation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Yehor Karabanov</dc:creator>
  <cp:lastModifiedBy>Yehor Karabanov</cp:lastModifiedBy>
  <cp:revision>3</cp:revision>
  <dcterms:created xsi:type="dcterms:W3CDTF">2025-11-04T10:38:19Z</dcterms:created>
  <dcterms:modified xsi:type="dcterms:W3CDTF">2025-11-04T15:45:26Z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0x0101006F01FDACA741214F9734A1B6D812A1F3</vt:lpwstr>
  </property>
</Properties>
</file>